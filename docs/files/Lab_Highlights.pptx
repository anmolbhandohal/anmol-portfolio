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FD8CF"/>
                </a:solidFill>
                <a:latin typeface="Segoe UI Semibold"/>
              </a:rPr>
              <a:t>COURSE LABS ·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0">
                <a:solidFill>
                  <a:srgbClr val="FFFFFF"/>
                </a:solidFill>
                <a:latin typeface="Segoe UI Semibold"/>
              </a:rPr>
              <a:t>Four labs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6E2F0"/>
                </a:solidFill>
                <a:latin typeface="Segoe UI"/>
              </a:rPr>
              <a:t>The question, one graph, the numbers, and what I concluded. Graphs rebuilt from my submitted reports' data; the workbook behind them recalculates every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Anmol Bhandohal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Segoe UI"/>
              </a:rPr>
              <a:t>BSc Electrical Engineering (Co-op) · University of Alberta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777240"/>
            <a:ext cx="3200400" cy="26517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_p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2926080" cy="1099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23774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76F51"/>
                </a:solidFill>
                <a:latin typeface="Segoe UI Semibold"/>
              </a:rPr>
              <a:t>ECE 302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606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F3A5F"/>
                </a:solidFill>
                <a:latin typeface="Segoe UI Semibold"/>
              </a:rPr>
              <a:t>±10 V dual-rail power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953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Design, simulate in LTspice, build, 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777240"/>
            <a:ext cx="3200400" cy="26517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b_fil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914400"/>
            <a:ext cx="2926080" cy="18156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78240" y="23774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Segoe UI Semibold"/>
              </a:rPr>
              <a:t>ECE 203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06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F3A5F"/>
                </a:solidFill>
                <a:latin typeface="Segoe UI Semibold"/>
              </a:rPr>
              <a:t>Filters and resonance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953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Four filters swept 100 Hz to 100 kHz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657600"/>
            <a:ext cx="3200400" cy="26517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b_fara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794760"/>
            <a:ext cx="2926080" cy="1151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49240" y="5257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PHYS 230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486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F3A5F"/>
                </a:solidFill>
                <a:latin typeface="Segoe UI Semibold"/>
              </a:rPr>
              <a:t>Faraday's 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83387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Earth's field from a flip coil, with error propagation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657600"/>
            <a:ext cx="3200400" cy="26517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b_ali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3794760"/>
            <a:ext cx="2926080" cy="98048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78240" y="5257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9A23B"/>
                </a:solidFill>
                <a:latin typeface="Segoe UI Semibold"/>
              </a:rPr>
              <a:t>ECE 340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86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F3A5F"/>
                </a:solidFill>
                <a:latin typeface="Segoe UI Semibold"/>
              </a:rPr>
              <a:t>Sampling and aliasing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83387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MATLAB: when 90 Hz becomes 10 Hz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ECE 302 · ELECTRONIC DEVICES ·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A ±10 V supply: one rail passed, one didn't,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Group lab with Rohan Singh. Values from our submitted report (Oct 2026); chart rebuilt from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Can a transformer, rectifiers, a 78L10 regulator and a Zener shunt hold ±10 V within 5 % regulation and 0.5 % ripple at full load?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53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Sized the 220 Ω ballast by hand, simulated both rails in LTspice, built it on a breadboard and measured with a scope and meter.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4398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A9D8F"/>
                </a:solidFill>
                <a:latin typeface="Segoe UI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2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The IC regulator rail met spec. The Zener rail fell out of breakdown under heavy load: not enough ballast current. Fix: more filter capacitance or a smaller ballast.</a:t>
            </a:r>
          </a:p>
        </p:txBody>
      </p:sp>
      <p:pic>
        <p:nvPicPr>
          <p:cNvPr id="13" name="Picture 12" descr="lab_p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63040"/>
            <a:ext cx="7315200" cy="27496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26280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5074920"/>
            <a:ext cx="64008" cy="1188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0.25 %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+ rail regulation, measured (limit 5 %)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22592" y="5074920"/>
            <a:ext cx="64008" cy="11887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E76F51"/>
                </a:solidFill>
                <a:latin typeface="Segoe UI Semibold"/>
              </a:rPr>
              <a:t>5.67 %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− rail regulation, measured: over the limit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8904" y="5074920"/>
            <a:ext cx="64008" cy="11887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E76F51"/>
                </a:solidFill>
                <a:latin typeface="Segoe UI Semibold"/>
              </a:rPr>
              <a:t>7.84 %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− rail ripple, measured (sim 0.44 %, limit 0.5 %)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ECE 302 · LAB 2 · HOW IT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From schematic to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Group lab with Rohan Singh. Figures from our submitted report: LTspice schematic and transient run, the breadboard build, the bench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2615184" cy="324612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p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2056374"/>
            <a:ext cx="2395728" cy="20960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92040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3A5F"/>
                </a:solidFill>
                <a:latin typeface="Segoe UI Semibold"/>
              </a:rPr>
              <a:t>1  ·  Design in LTspice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2615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586"/>
                </a:solidFill>
                <a:latin typeface="Segoe UI"/>
              </a:rPr>
              <a:t>Transformer, full-wave centre-tapped rectifiers, 78L10 on the + rail, 1N4740 Zener shunt on the − 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1" y="292150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481328"/>
            <a:ext cx="2615184" cy="324612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2_p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479135"/>
            <a:ext cx="2395728" cy="12505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38144" y="4892040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3A5F"/>
                </a:solidFill>
                <a:latin typeface="Segoe UI Semibold"/>
              </a:rPr>
              <a:t>2  ·  Simulate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5230368"/>
            <a:ext cx="2615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586"/>
                </a:solidFill>
                <a:latin typeface="Segoe UI"/>
              </a:rPr>
              <a:t>Transient run: both rails settle to ±10 V within about 3 ms. Load stepped with .step to get full-load and no-load.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5" y="292150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481328"/>
            <a:ext cx="2615184" cy="324612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2_p3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713441"/>
            <a:ext cx="2395728" cy="27818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6208" y="4892040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3A5F"/>
                </a:solidFill>
                <a:latin typeface="Segoe UI Semibold"/>
              </a:rPr>
              <a:t>3  · 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5230368"/>
            <a:ext cx="2615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586"/>
                </a:solidFill>
                <a:latin typeface="Segoe UI"/>
              </a:rPr>
              <a:t>On the breadboard: transformer leads in, IC regulator rail and Zener rail side by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92150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1481328"/>
            <a:ext cx="2615184" cy="324612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2_p7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9" y="2119546"/>
            <a:ext cx="2395728" cy="19696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34272" y="4892040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3A5F"/>
                </a:solidFill>
                <a:latin typeface="Segoe UI Semibold"/>
              </a:rPr>
              <a:t>4  ·  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5230368"/>
            <a:ext cx="2615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586"/>
                </a:solidFill>
                <a:latin typeface="Segoe UI"/>
              </a:rPr>
              <a:t>Scope in AC coupling on the − rail: 760 mV peak-to-peak ripple, the number that failed the spec.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ECE 203 · ELECTRICAL CIRCUITS II · LAB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Four filters, measured against 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Individual results sheet (Mar 2026). Measured points from my tables; theory uses the nominal 470 Ω, 100 nF, 10 mH.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Do real RC, RL and RLC filters cut off where 1/(2πRC), R/(2πL) and 1/(2π√LC) say they should?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Swept each filter from 100 Hz to 100 kHz on the function generator and scope, and found each −3 dB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849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A9D8F"/>
                </a:solidFill>
                <a:latin typeface="Segoe UI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15384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Every corner landed within 5.4 % of theory. Both RC cut-offs ran high by the same 5 %, consistent with the capacitor being about 95 nF (within its tolerance).</a:t>
            </a:r>
          </a:p>
        </p:txBody>
      </p:sp>
      <p:pic>
        <p:nvPicPr>
          <p:cNvPr id="13" name="Picture 12" descr="lab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25880"/>
            <a:ext cx="5820966" cy="3611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26280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507492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−0.4 %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RLC centre frequency vs theory (5,013 vs 5,033 Hz)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22592" y="5074920"/>
            <a:ext cx="64008" cy="11887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E9A23B"/>
                </a:solidFill>
                <a:latin typeface="Segoe UI Semibold"/>
              </a:rPr>
              <a:t>+5.3 %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Both RC cut-offs high: implies C ≈ 95 nF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8904" y="5074920"/>
            <a:ext cx="64008" cy="1188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Q 0.66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Band-pass sharpness, theory 0.67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PHYS 230 · ELECTRICITY AND MAGNETISM · LAB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Faraday's law,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With lab partners Duong Hung Nguyen and James Pacia. Report written individually (Mar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Is induced EMF proportional to the rate of change of flux, and can a flipped coil measure Earth's magnetic field?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Ten 180° flips of a 100-turn coil through a ×200 amplifier; then 11 current settings on coupled solenoids, fit with LINEST in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A9D8F"/>
                </a:solidFill>
                <a:latin typeface="Segoe UI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531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Induced voltage is linear in current (R² = 0.9998). The flip coil gave B 32 % above the gaussmeter; likely local interference and coil alignment.</a:t>
            </a:r>
          </a:p>
        </p:txBody>
      </p:sp>
      <p:pic>
        <p:nvPicPr>
          <p:cNvPr id="13" name="Picture 12" descr="lab_fara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63040"/>
            <a:ext cx="7315200" cy="28786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26280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507492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R² 0.9998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Linear fit, induced EMF vs primary current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22592" y="5074920"/>
            <a:ext cx="64008" cy="1188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A9D8F"/>
                </a:solidFill>
                <a:latin typeface="Segoe UI Semibold"/>
              </a:rPr>
              <a:t>3.23 ± 0.09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Earth's field, ×10⁻⁵ T (fractional error propagation)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5074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8904" y="5074920"/>
            <a:ext cx="64008" cy="1188720"/>
          </a:xfrm>
          <a:prstGeom prst="rect">
            <a:avLst/>
          </a:prstGeom>
          <a:solidFill>
            <a:srgbClr val="6B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522122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586"/>
                </a:solidFill>
                <a:latin typeface="Segoe UI Semibold"/>
              </a:rPr>
              <a:t>2.45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567842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Gaussmeter reference, ×10⁻⁵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ECE 340 · DISCRETE-TIME SIGNALS AND SYSTEMS ·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When 90 Hz turns into 10 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Individual report (Oct 2026). Top graph redrawn from the lab's signal definitions; the images are my MATLAB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What happens when a signal is sampled slower than twice its highest frequency, in 1D and in images?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5F"/>
                </a:solidFill>
                <a:latin typeface="Segoe UI Semibold"/>
              </a:rP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Sampled 10 Hz and 90 Hz cosines at 100 Hz and 1 kHz in MATLAB, then shrank a test image with anti-aliasing off and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A9D8F"/>
                </a:solidFill>
                <a:latin typeface="Segoe UI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53128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430"/>
                </a:solidFill>
                <a:latin typeface="Segoe UI"/>
              </a:rPr>
              <a:t>At 100 Hz the two tones give identical samples (max difference 1.7×10⁻¹⁴). Shrinking an image is resampling too: fine stripes alias into moiré unless low-passed first.</a:t>
            </a:r>
          </a:p>
        </p:txBody>
      </p:sp>
      <p:pic>
        <p:nvPicPr>
          <p:cNvPr id="13" name="Picture 12" descr="lab_al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71600"/>
            <a:ext cx="7315200" cy="2451217"/>
          </a:xfrm>
          <a:prstGeom prst="rect">
            <a:avLst/>
          </a:prstGeom>
        </p:spPr>
      </p:pic>
      <p:pic>
        <p:nvPicPr>
          <p:cNvPr id="14" name="Picture 13" descr="lab_alias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977639"/>
            <a:ext cx="4324786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61120" y="420624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E2430"/>
                </a:solidFill>
                <a:latin typeface="Segoe UI"/>
              </a:rPr>
              <a:t>Left:</a:t>
            </a:r>
            <a:r>
              <a:rPr sz="1250" b="0">
                <a:solidFill>
                  <a:srgbClr val="1E2430"/>
                </a:solidFill>
                <a:latin typeface="Segoe UI"/>
              </a:rPr>
              <a:t> stripes on the clothing turn into false wavy bands.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1E2430"/>
                </a:solidFill>
                <a:latin typeface="Segoe UI"/>
              </a:rPr>
              <a:t>Right:</a:t>
            </a:r>
            <a:r>
              <a:rPr sz="1250" b="0">
                <a:solidFill>
                  <a:srgbClr val="1E2430"/>
                </a:solidFill>
                <a:latin typeface="Segoe UI"/>
              </a:rPr>
              <a:t> filtered first, they fade to grey instead. Cost: a little blur.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FD8CF"/>
                </a:solidFill>
                <a:latin typeface="Segoe UI Semibold"/>
              </a:rPr>
              <a:t>WHAT THESE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FFFFFF"/>
                </a:solidFill>
                <a:latin typeface="Segoe UI Semibold"/>
              </a:rPr>
              <a:t>Predict it, measure it, explain the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27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FD8CF"/>
                </a:solidFill>
                <a:latin typeface="Segoe UI Semibold"/>
              </a:rPr>
              <a:t>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Oscilloscope (AC/DC coupling), function generator, DMMs, breadboard builds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27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FD8CF"/>
                </a:solidFill>
                <a:latin typeface="Segoe UI Semibold"/>
              </a:rPr>
              <a:t>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918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LTspice: stepped parameters, .meas averages and ripple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27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FD8CF"/>
                </a:solidFill>
                <a:latin typeface="Segoe UI Semibold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Excel LINEST, error propagation, MATLAB conv, sampling, imresize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27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FD8CF"/>
                </a:solidFill>
                <a:latin typeface="Segoe UI Semibold"/>
              </a:rPr>
              <a:t>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Spec checks, honest failures and their causes, Word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6E2F0"/>
                </a:solidFill>
                <a:latin typeface="Segoe UI"/>
              </a:rPr>
              <a:t>Data and every calculation: Lab_Highlights_Data.xlsx  ·  anmol-portfolio-omega.vercel.app/docs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