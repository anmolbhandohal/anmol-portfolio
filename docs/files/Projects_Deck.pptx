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Temperature rise per heating cycle (°C)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Rise per cycle (°C)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Sheet1!$A$2:$A$10</c:f>
              <c:strCache>
                <c:ptCount val="9"/>
                <c:pt idx="0">
                  <c:v>#1</c:v>
                </c:pt>
                <c:pt idx="1">
                  <c:v>#2</c:v>
                </c:pt>
                <c:pt idx="2">
                  <c:v>#3</c:v>
                </c:pt>
                <c:pt idx="3">
                  <c:v>#4</c:v>
                </c:pt>
                <c:pt idx="4">
                  <c:v>#5</c:v>
                </c:pt>
                <c:pt idx="5">
                  <c:v>#6</c:v>
                </c:pt>
                <c:pt idx="6">
                  <c:v>#7</c:v>
                </c:pt>
                <c:pt idx="7">
                  <c:v>#8</c:v>
                </c:pt>
                <c:pt idx="8">
                  <c:v>#9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0.35</c:v>
                </c:pt>
                <c:pt idx="1">
                  <c:v>0.31</c:v>
                </c:pt>
                <c:pt idx="2">
                  <c:v>0.38</c:v>
                </c:pt>
                <c:pt idx="3">
                  <c:v>0.42</c:v>
                </c:pt>
                <c:pt idx="4">
                  <c:v>0.42</c:v>
                </c:pt>
                <c:pt idx="5">
                  <c:v>0.44</c:v>
                </c:pt>
                <c:pt idx="6">
                  <c:v>0.49</c:v>
                </c:pt>
                <c:pt idx="7">
                  <c:v>0.52</c:v>
                </c:pt>
                <c:pt idx="8">
                  <c:v>0.94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E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B7586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Mean absolute error, 5-fold time-series cross-validation (lower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(°C)</c:v>
                </c:pt>
              </c:strCache>
            </c:strRef>
          </c:tx>
          <c:dPt>
            <c:idx val="0"/>
            <c:spPr>
              <a:solidFill>
                <a:srgbClr val="6B7586"/>
              </a:solidFill>
            </c:spPr>
          </c:dPt>
          <c:dPt>
            <c:idx val="1"/>
            <c:spPr>
              <a:solidFill>
                <a:srgbClr val="9DB4CF"/>
              </a:solidFill>
            </c:spPr>
          </c:dPt>
          <c:dPt>
            <c:idx val="2"/>
            <c:spPr>
              <a:solidFill>
                <a:srgbClr val="1F3A5F"/>
              </a:solidFill>
            </c:spPr>
          </c:dPt>
          <c:cat>
            <c:strRef>
              <c:f>Sheet1!$A$2:$A$4</c:f>
              <c:strCache>
                <c:ptCount val="3"/>
                <c:pt idx="0">
                  <c:v>Persistence (baseline)</c:v>
                </c:pt>
                <c:pt idx="1">
                  <c:v>Ridge regression</c:v>
                </c:pt>
                <c:pt idx="2">
                  <c:v>Gradient-boosted trees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0.187</c:v>
                </c:pt>
                <c:pt idx="1">
                  <c:v>0.273</c:v>
                </c:pt>
                <c:pt idx="2">
                  <c:v>0.179</c:v>
                </c:pt>
              </c:numCache>
            </c:numRef>
          </c:val>
        </c:ser>
        <c:dLbls>
          <c:numFmt formatCode="0.000 &quot;°C&quot;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B7586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plateau mean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1F3A5F"/>
              </a:solidFill>
              <a:ln>
                <a:noFill/>
              </a:ln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10.0</c:v>
                </c:pt>
                <c:pt idx="1">
                  <c:v>20.0</c:v>
                </c:pt>
                <c:pt idx="2">
                  <c:v>30.0</c:v>
                </c:pt>
                <c:pt idx="3">
                  <c:v>40.0</c:v>
                </c:pt>
                <c:pt idx="4">
                  <c:v>50.0</c:v>
                </c:pt>
                <c:pt idx="5">
                  <c:v>60.0</c:v>
                </c:pt>
                <c:pt idx="6">
                  <c:v>70.0</c:v>
                </c:pt>
                <c:pt idx="7">
                  <c:v>80.0</c:v>
                </c:pt>
                <c:pt idx="8">
                  <c:v>90.0</c:v>
                </c:pt>
                <c:pt idx="9">
                  <c:v>100.0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25.9</c:v>
                </c:pt>
                <c:pt idx="1">
                  <c:v>51.26</c:v>
                </c:pt>
                <c:pt idx="2">
                  <c:v>78.33</c:v>
                </c:pt>
                <c:pt idx="3">
                  <c:v>103.73</c:v>
                </c:pt>
                <c:pt idx="4">
                  <c:v>130.7</c:v>
                </c:pt>
                <c:pt idx="5">
                  <c:v>156.28</c:v>
                </c:pt>
                <c:pt idx="6">
                  <c:v>180.6</c:v>
                </c:pt>
                <c:pt idx="7">
                  <c:v>208.64</c:v>
                </c:pt>
                <c:pt idx="8">
                  <c:v>232.96</c:v>
                </c:pt>
                <c:pt idx="9">
                  <c:v>260.74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</c:f>
              <c:strCache>
                <c:ptCount val="1"/>
                <c:pt idx="0">
                  <c:v>Fit: 2.602 lx/% (R² = 0.99991)</c:v>
                </c:pt>
              </c:strCache>
            </c:strRef>
          </c:tx>
          <c:spPr>
            <a:ln w="28575">
              <a:solidFill>
                <a:srgbClr val="2A9D8F"/>
              </a:solidFill>
            </a:ln>
          </c:spPr>
          <c:marker>
            <c:symbol val="none"/>
          </c:marker>
          <c:xVal>
            <c:numRef>
              <c:f>Sheet1!$A$14:$A$15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xVal>
          <c:yVal>
            <c:numRef>
              <c:f>Sheet1!$B$14:$B$15</c:f>
              <c:numCache>
                <c:formatCode>General</c:formatCode>
                <c:ptCount val="2"/>
                <c:pt idx="0">
                  <c:v>-0.19</c:v>
                </c:pt>
                <c:pt idx="1">
                  <c:v>260.0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t>PWM duty cycle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max val="300.0"/>
          <c:min val="0.0"/>
        </c:scaling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t>Light output (lux)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6B7586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9.jp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FD8CF"/>
                </a:solidFill>
                <a:latin typeface="Segoe UI Semibold"/>
              </a:rPr>
              <a:t>PROJECT PORTFOLIO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>
                <a:solidFill>
                  <a:srgbClr val="FFFFFF"/>
                </a:solidFill>
                <a:latin typeface="Segoe UI Semibold"/>
              </a:rPr>
              <a:t>Why is one room colder?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D6E2F0"/>
                </a:solidFill>
                <a:latin typeface="Segoe UI"/>
              </a:rPr>
              <a:t>Measuring heat loss with ESP32 sensor nodes, weather data and an RC circuit model. Plus: a closed-loop LED lamp.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Anmol Bhandohal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BSc Electrical Engineering (Co-op) · University of Alberta</a:t>
            </a:r>
          </a:p>
        </p:txBody>
      </p:sp>
      <p:pic>
        <p:nvPicPr>
          <p:cNvPr id="7" name="Picture 6" descr="env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37360"/>
            <a:ext cx="6583680" cy="26529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40680" y="4617720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Real data: Room A, Oct 3 to 4, 2026. 5,747 sensor readings; the furnace's heating sawtooth, detected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Three explanations, three different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430"/>
                </a:solidFill>
                <a:latin typeface="Segoe UI"/>
              </a:rPr>
              <a:t>One bedroom is always colder. Before spending money on a fix, find out </a:t>
            </a:r>
            <a:r>
              <a:rPr sz="1800" b="1">
                <a:solidFill>
                  <a:srgbClr val="1E2430"/>
                </a:solidFill>
                <a:latin typeface="Segoe UI"/>
              </a:rPr>
              <a:t>which</a:t>
            </a:r>
            <a:r>
              <a:rPr sz="1800" b="0">
                <a:solidFill>
                  <a:srgbClr val="1E2430"/>
                </a:solidFill>
                <a:latin typeface="Segoe UI"/>
              </a:rPr>
              <a:t> of these is actually true.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3474720" cy="3749039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3474720" cy="10972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9A23B"/>
                </a:solidFill>
                <a:latin typeface="Segoe UI Semibold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F3A5F"/>
                </a:solidFill>
                <a:latin typeface="Segoe UI Semibold"/>
              </a:rPr>
              <a:t>Less sun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7586"/>
                </a:solidFill>
                <a:latin typeface="Segoe UI"/>
              </a:rPr>
              <a:t>Window faces away from the sun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E9A23B"/>
                </a:solidFill>
                <a:latin typeface="Segoe UI Semibold"/>
              </a:rPr>
              <a:t>DATA WOULD 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Gap in daytime only; disappears at 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E9A23B"/>
                </a:solidFill>
                <a:latin typeface="Segoe UI Semibold"/>
              </a:rPr>
              <a:t>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Curtains or accept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240280"/>
            <a:ext cx="3474720" cy="3749039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240280"/>
            <a:ext cx="3474720" cy="10972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5603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76F51"/>
                </a:solidFill>
                <a:latin typeface="Segoe UI Semibold"/>
              </a:rPr>
              <a:t>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8803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F3A5F"/>
                </a:solidFill>
                <a:latin typeface="Segoe UI Semibold"/>
              </a:rPr>
              <a:t>Leaky envelope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4747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7586"/>
                </a:solidFill>
                <a:latin typeface="Segoe UI"/>
              </a:rPr>
              <a:t>Poor insulation, air leaks (low 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605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E76F51"/>
                </a:solidFill>
                <a:latin typeface="Segoe UI Semibold"/>
              </a:rPr>
              <a:t>DATA WOULD 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348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Room cools faster after every furnace 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212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E76F51"/>
                </a:solidFill>
                <a:latin typeface="Segoe UI Semibold"/>
              </a:rP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440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Weatherstrip, caulk, insulate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2240280"/>
            <a:ext cx="3474720" cy="3749039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2240280"/>
            <a:ext cx="3474720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9" y="25603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9D8F"/>
                </a:solidFill>
                <a:latin typeface="Segoe UI Semibold"/>
              </a:rPr>
              <a:t>H3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28803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F3A5F"/>
                </a:solidFill>
                <a:latin typeface="Segoe UI Semibold"/>
              </a:rPr>
              <a:t>Weak heating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34747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7586"/>
                </a:solidFill>
                <a:latin typeface="Segoe UI"/>
              </a:rPr>
              <a:t>Damper partly closed, long 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41605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A9D8F"/>
                </a:solidFill>
                <a:latin typeface="Segoe UI Semibold"/>
              </a:rPr>
              <a:t>DATA WOULD SHOW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44348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Room warms less per furnace 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5212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A9D8F"/>
                </a:solidFill>
                <a:latin typeface="Segoe UI Semibold"/>
              </a:rPr>
              <a:t>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5440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Open or balance dampers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A room behaves like an RC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pic>
        <p:nvPicPr>
          <p:cNvPr id="7" name="Picture 6" descr="rc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675120" cy="28050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600200"/>
            <a:ext cx="4023360" cy="11430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>
                <a:solidFill>
                  <a:srgbClr val="1F3A5F"/>
                </a:solidFill>
                <a:latin typeface="Cambria Math"/>
              </a:rPr>
              <a:t>C · dT/dt = (Tout − T) / R</a:t>
            </a:r>
          </a:p>
          <a:p>
            <a:pPr algn="ctr">
              <a:lnSpc>
                <a:spcPct val="110000"/>
              </a:lnSpc>
            </a:pPr>
            <a:r>
              <a:rPr sz="1700" b="0">
                <a:solidFill>
                  <a:srgbClr val="1F3A5F"/>
                </a:solidFill>
                <a:latin typeface="Cambria Math"/>
              </a:rPr>
              <a:t>+ a·solar + b·furnace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0175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Walls and air leaks = </a:t>
            </a:r>
            <a:r>
              <a:rPr sz="1500" b="1">
                <a:solidFill>
                  <a:srgbClr val="1E2430"/>
                </a:solidFill>
                <a:latin typeface="Segoe UI"/>
              </a:rPr>
              <a:t>resistor R</a:t>
            </a:r>
            <a:r>
              <a:rPr sz="1500" b="0">
                <a:solidFill>
                  <a:srgbClr val="1E2430"/>
                </a:solidFill>
                <a:latin typeface="Segoe UI"/>
              </a:rPr>
              <a:t>. Heat flow ∝ temperature difference, like Ohm's law.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Air and furniture = </a:t>
            </a:r>
            <a:r>
              <a:rPr sz="1500" b="1">
                <a:solidFill>
                  <a:srgbClr val="1E2430"/>
                </a:solidFill>
                <a:latin typeface="Segoe UI"/>
              </a:rPr>
              <a:t>capacitor C</a:t>
            </a:r>
            <a:r>
              <a:rPr sz="1500" b="0">
                <a:solidFill>
                  <a:srgbClr val="1E2430"/>
                </a:solidFill>
                <a:latin typeface="Segoe UI"/>
              </a:rPr>
              <a:t>: they store heat.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1">
                <a:solidFill>
                  <a:srgbClr val="1E2430"/>
                </a:solidFill>
                <a:latin typeface="Segoe UI"/>
              </a:rPr>
              <a:t>τ = RC</a:t>
            </a:r>
            <a:r>
              <a:rPr sz="1500" b="0">
                <a:solidFill>
                  <a:srgbClr val="1E2430"/>
                </a:solidFill>
                <a:latin typeface="Segoe UI"/>
              </a:rPr>
              <a:t> is one number per room. A leaky room has smaller R, smaller τ, and cools faster.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Comparing τ between rooms separates H2 from H1 and H3.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APPARATUS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How it's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pic>
        <p:nvPicPr>
          <p:cNvPr id="7" name="Picture 6" descr="env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11155680" cy="25234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886200"/>
            <a:ext cx="2560320" cy="17373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8736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10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sampling interval, temperature · RH · pressure · 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886200"/>
            <a:ext cx="2560320" cy="17373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408736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±0.2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7548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target agreement between nodes after calibration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2560320" cy="17373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08736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548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resampled grid, joined to hourly Edmonton weather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3886200"/>
            <a:ext cx="2560320" cy="17373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39" y="408736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100 %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47548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of derived values reproducible as Excel formulas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586"/>
                </a:solidFill>
                <a:latin typeface="Segoe UI"/>
              </a:rPr>
              <a:t>ESP32 · Bosch BME280 · ROHM BH1750 · Arduino C++ · Python (pandas, scikit-learn) · Open-Meteo API · Microsoft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The experiment, phase by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95728"/>
            <a:ext cx="10058400" cy="54864"/>
          </a:xfrm>
          <a:prstGeom prst="rect">
            <a:avLst/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057400"/>
            <a:ext cx="731520" cy="7315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F3A5F"/>
                </a:solidFill>
                <a:latin typeface="Segoe UI Semibold"/>
              </a:rPr>
              <a:t>Calibrate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Both nodes side by side for 24 h. Measure the offset, subtract it everywhere.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74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389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B7791F"/>
                </a:solidFill>
                <a:latin typeface="Segoe UI Semibold"/>
              </a:rPr>
              <a:t>Pending</a:t>
            </a:r>
          </a:p>
        </p:txBody>
      </p:sp>
      <p:sp>
        <p:nvSpPr>
          <p:cNvPr id="14" name="Oval 13"/>
          <p:cNvSpPr/>
          <p:nvPr/>
        </p:nvSpPr>
        <p:spPr>
          <a:xfrm>
            <a:off x="3749040" y="205740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22199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175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F3A5F"/>
                </a:solidFill>
                <a:latin typeface="Segoe UI Semibold"/>
              </a:rP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6616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One node in Room A. Build and test the whole pipeline on real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5074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51389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2A9D8F"/>
                </a:solidFill>
                <a:latin typeface="Segoe UI Semibold"/>
              </a:rPr>
              <a:t>Done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057400"/>
            <a:ext cx="731520" cy="7315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22199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175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F3A5F"/>
                </a:solidFill>
                <a:latin typeface="Segoe UI Semibold"/>
              </a:rPr>
              <a:t>Two rooms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56616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One node per room, 1.2 m high, away from vents. Log events.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074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1389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B7791F"/>
                </a:solidFill>
                <a:latin typeface="Segoe UI Semibold"/>
              </a:rPr>
              <a:t>2 to 3 weeks</a:t>
            </a:r>
          </a:p>
        </p:txBody>
      </p:sp>
      <p:sp>
        <p:nvSpPr>
          <p:cNvPr id="26" name="Oval 25"/>
          <p:cNvSpPr/>
          <p:nvPr/>
        </p:nvSpPr>
        <p:spPr>
          <a:xfrm>
            <a:off x="9418320" y="2057400"/>
            <a:ext cx="731520" cy="7315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222199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0175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F3A5F"/>
                </a:solidFill>
                <a:latin typeface="Segoe UI Semibold"/>
              </a:rPr>
              <a:t>Analyse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56616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τ per room, rise per furnace cycle, day vs night, wind.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074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51389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1F3A5F"/>
                </a:solidFill>
                <a:latin typeface="Segoe UI Semibold"/>
              </a:rPr>
              <a:t>Pipeline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7586"/>
                </a:solidFill>
                <a:latin typeface="Segoe UI"/>
              </a:rPr>
              <a:t>Why calibrate first: each sensor is only ±1 °C accurate out of the box, which is bigger than the effect being measured.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RESULTS ·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Night 1: the room, the weather and the furnace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pic>
        <p:nvPicPr>
          <p:cNvPr id="7" name="Picture 6" descr="env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863840" cy="33864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508760"/>
            <a:ext cx="2926080" cy="132588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7099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F3A5F"/>
                </a:solidFill>
                <a:latin typeface="Segoe UI Semibold"/>
              </a:rPr>
              <a:t>18.9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37744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average room temperature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017520"/>
            <a:ext cx="2926080" cy="132588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321868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F3A5F"/>
                </a:solidFill>
                <a:latin typeface="Segoe UI Semibold"/>
              </a:rPr>
              <a:t>2.7 → 16.9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88620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outdoor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4526279"/>
            <a:ext cx="2926080" cy="132588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4727447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F3A5F"/>
                </a:solidFill>
                <a:latin typeface="Segoe UI Semibold"/>
              </a:rPr>
              <a:t>23.9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394959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Room A time constant τ (RC fit)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The thermostat holds about 19 °C while it drops to 2.7 °C outside.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τ ≈ 24 h: with the furnace off, Room A would lose about 0.8 °C in the first hour.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RESULTS ·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9 furnace cycles, found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46304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50876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0992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1F3A5F"/>
                </a:solidFill>
                <a:latin typeface="Segoe UI Semibold"/>
              </a:rPr>
              <a:t>0.48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39" y="2377440"/>
            <a:ext cx="33832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average rise per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69748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89864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1F3A5F"/>
                </a:solidFill>
                <a:latin typeface="Segoe UI Semibold"/>
              </a:rPr>
              <a:t>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39" y="3566160"/>
            <a:ext cx="33832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average time between cycles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8620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08736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1F3A5F"/>
                </a:solidFill>
                <a:latin typeface="Segoe UI Semibold"/>
              </a:rPr>
              <a:t>≈ 20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4754880"/>
            <a:ext cx="33832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furnace on-time per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16636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586"/>
                </a:solidFill>
                <a:latin typeface="Segoe UI"/>
              </a:rPr>
              <a:t>Method: smooth over 5 min, find where dT/dt changes sign, keep rises ≥ 0.15 °C (15× the sensor resolution).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EXTENSION ·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Can ML forecast the room 30 minutes ahead?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08760"/>
          <a:ext cx="6766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554480"/>
            <a:ext cx="3977639" cy="42062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830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F3A5F"/>
                </a:solidFill>
                <a:latin typeface="Segoe UI Semibold"/>
              </a:rPr>
              <a:t>HONEST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  <a:latin typeface="Segoe UI"/>
              </a:rPr>
              <a:t>▪  </a:t>
            </a:r>
            <a:r>
              <a:rPr sz="1400" b="0">
                <a:solidFill>
                  <a:srgbClr val="1E2430"/>
                </a:solidFill>
                <a:latin typeface="Segoe UI"/>
              </a:rPr>
              <a:t>Best model beats "no change" by only </a:t>
            </a:r>
            <a:r>
              <a:rPr sz="1400" b="1">
                <a:solidFill>
                  <a:srgbClr val="1E2430"/>
                </a:solidFill>
                <a:latin typeface="Segoe UI"/>
              </a:rPr>
              <a:t>4.7 %</a:t>
            </a:r>
            <a:r>
              <a:rPr sz="1400" b="0">
                <a:solidFill>
                  <a:srgbClr val="1E2430"/>
                </a:solidFill>
                <a:latin typeface="Segoe UI"/>
              </a:rPr>
              <a:t>, and loses on a single hold-out split.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  <a:latin typeface="Segoe UI"/>
              </a:rPr>
              <a:t>▪  </a:t>
            </a:r>
            <a:r>
              <a:rPr sz="1400" b="0">
                <a:solidFill>
                  <a:srgbClr val="1E2430"/>
                </a:solidFill>
                <a:latin typeface="Segoe UI"/>
              </a:rPr>
              <a:t>One night holds just 9 furnace cycles. The model needs weeks of data.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  <a:latin typeface="Segoe UI"/>
              </a:rPr>
              <a:t>▪  </a:t>
            </a:r>
            <a:r>
              <a:rPr sz="1400" b="0">
                <a:solidFill>
                  <a:srgbClr val="1E2430"/>
                </a:solidFill>
                <a:latin typeface="Segoe UI"/>
              </a:rPr>
              <a:t>Tested so it never trains on the future (time-series folds).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586"/>
                </a:solidFill>
                <a:latin typeface="Segoe UI"/>
              </a:rPr>
              <a:t>Features: recent temperature changes, indoor–outdoor gap, solar radiation. Python + scikit-learn.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RESULTS · DATA COLLECTION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Room A vs Room B: the actual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pic>
        <p:nvPicPr>
          <p:cNvPr id="7" name="Picture 6" descr="pend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198430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5778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 w="12700">
            <a:solidFill>
              <a:srgbClr val="E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3270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B7791F"/>
                </a:solidFill>
                <a:latin typeface="Segoe UI Semibold"/>
              </a:rPr>
              <a:t>PENDING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3A5F"/>
                </a:solidFill>
                <a:latin typeface="Segoe UI Semibold"/>
              </a:rPr>
              <a:t>What gets computed per room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214884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188720"/>
              </a:tblGrid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Room 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Room B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430"/>
                          </a:solidFill>
                          <a:latin typeface="Segoe UI"/>
                        </a:rPr>
                        <a:t>Time constant τ (h)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430"/>
                          </a:solidFill>
                          <a:latin typeface="Segoe UI"/>
                        </a:rPr>
                        <a:t>23.9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7791F"/>
                          </a:solidFill>
                          <a:latin typeface="Segoe UI"/>
                        </a:rPr>
                        <a:t>?</a:t>
                      </a:r>
                    </a:p>
                  </a:txBody>
                  <a:tcPr>
                    <a:solidFill>
                      <a:srgbClr val="FFF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430"/>
                          </a:solidFill>
                          <a:latin typeface="Segoe UI"/>
                        </a:rPr>
                        <a:t>Rise per furnace cycle (°C)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430"/>
                          </a:solidFill>
                          <a:latin typeface="Segoe UI"/>
                        </a:rP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7791F"/>
                          </a:solidFill>
                          <a:latin typeface="Segoe UI"/>
                        </a:rPr>
                        <a:t>?</a:t>
                      </a:r>
                    </a:p>
                  </a:txBody>
                  <a:tcPr>
                    <a:solidFill>
                      <a:srgbClr val="FFF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430"/>
                          </a:solidFill>
                          <a:latin typeface="Segoe UI"/>
                        </a:rPr>
                        <a:t>Cooling rate per °C ΔT (1/h)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430"/>
                          </a:solidFill>
                          <a:latin typeface="Segoe UI"/>
                        </a:rPr>
                        <a:t>0.063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7791F"/>
                          </a:solidFill>
                          <a:latin typeface="Segoe UI"/>
                        </a:rPr>
                        <a:t>?</a:t>
                      </a:r>
                    </a:p>
                  </a:txBody>
                  <a:tcPr>
                    <a:solidFill>
                      <a:srgbClr val="FFF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430"/>
                          </a:solidFill>
                          <a:latin typeface="Segoe UI"/>
                        </a:rPr>
                        <a:t>Day − night gap (°C)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7791F"/>
                          </a:solidFill>
                          <a:latin typeface="Segoe UI"/>
                        </a:rPr>
                        <a:t>?</a:t>
                      </a:r>
                    </a:p>
                  </a:txBody>
                  <a:tcPr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7791F"/>
                          </a:solidFill>
                          <a:latin typeface="Segoe UI"/>
                        </a:rPr>
                        <a:t>?</a:t>
                      </a:r>
                    </a:p>
                  </a:txBody>
                  <a:tcPr>
                    <a:solidFill>
                      <a:srgbClr val="FFF1D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92240" y="480060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7586"/>
                </a:solidFill>
                <a:latin typeface="Segoe UI"/>
              </a:rPr>
              <a:t>Every chart, table and formula is already built. Room B's logs get pasted into the workbook and the results fill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Decision rules, written before the data arrives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9144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09928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τ(B) at least 25 % smaller than τ(A), day and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586"/>
                </a:solidFill>
                <a:latin typeface="Segoe UI Semibold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282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76F51"/>
                </a:solidFill>
                <a:latin typeface="Segoe UI Semibold"/>
              </a:rPr>
              <a:t>H2 · leaky envelope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0756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586"/>
                </a:solidFill>
                <a:latin typeface="Segoe UI"/>
              </a:rPr>
              <a:t>Weatherstrip, seal outlets on exterior walls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79191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79191"/>
            <a:ext cx="109728" cy="9144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88919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Similar τ, but B warms clearly less per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53511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586"/>
                </a:solidFill>
                <a:latin typeface="Segoe UI Semibold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80720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A9D8F"/>
                </a:solidFill>
                <a:latin typeface="Segoe UI Semibold"/>
              </a:rPr>
              <a:t>H3 · weak heating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15467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586"/>
                </a:solidFill>
                <a:latin typeface="Segoe UI"/>
              </a:rPr>
              <a:t>Open or balance dampers, check the duct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58183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58183"/>
            <a:ext cx="109728" cy="9144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67911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Gap mostly in daytime; B's light curve peaks late or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32503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586"/>
                </a:solidFill>
                <a:latin typeface="Segoe UI Semibold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88619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9A23B"/>
                </a:solidFill>
                <a:latin typeface="Segoe UI Semibold"/>
              </a:rPr>
              <a:t>H1 · less sun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233671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586"/>
                </a:solidFill>
                <a:latin typeface="Segoe UI"/>
              </a:rPr>
              <a:t>Accept, or thermal curtains at night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37176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37176"/>
            <a:ext cx="109728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46904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2430"/>
                </a:solidFill>
                <a:latin typeface="Segoe UI"/>
              </a:rPr>
              <a:t>Gap grows with wind 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1114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586"/>
                </a:solidFill>
                <a:latin typeface="Segoe UI Semibold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965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3A5F"/>
                </a:solidFill>
                <a:latin typeface="Segoe UI Semibold"/>
              </a:rPr>
              <a:t>Air leaks (part of H2)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31266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586"/>
                </a:solidFill>
                <a:latin typeface="Segoe UI"/>
              </a:rPr>
              <a:t>Air-seal first: the cheapest 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3A5F"/>
                </a:solidFill>
                <a:latin typeface="Segoe UI Semibold"/>
              </a:rPr>
              <a:t>Fixing the rules first stops me from bending the result toward the answer I expected.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ADAPTIVE LED LAMP ·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Project 2: is the LED lamp's dimming linear?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11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46304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50876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0992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F3A5F"/>
                </a:solidFill>
                <a:latin typeface="Segoe UI Semibold"/>
              </a:rPr>
              <a:t>0.99991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39" y="23774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R², light vs duty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97180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17296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F3A5F"/>
                </a:solidFill>
                <a:latin typeface="Segoe UI Semibold"/>
              </a:rPr>
              <a:t>0.51 %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39" y="38404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worst deviation from the line (of full scale)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43484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63600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F3A5F"/>
                </a:solidFill>
                <a:latin typeface="Segoe UI Semibold"/>
              </a:rPr>
              <a:t>7×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53035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finer sensor resolution after fixing the first failed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943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ESP32 · IRLZ44N MOSFET · 12 V strip · BH1750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ADAPTIVE LED LAMP ·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Holding a set brightness with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12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pic>
        <p:nvPicPr>
          <p:cNvPr id="7" name="Picture 6" descr="lamp_loop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44405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5544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7830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1F3A5F"/>
                </a:solidFill>
                <a:latin typeface="Cambria Math"/>
              </a:rPr>
              <a:t>u ← u + (G/K)·error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  <a:latin typeface="Segoe UI"/>
              </a:rPr>
              <a:t>▪  </a:t>
            </a:r>
            <a:r>
              <a:rPr sz="1400" b="1">
                <a:solidFill>
                  <a:srgbClr val="1E2430"/>
                </a:solidFill>
                <a:latin typeface="Segoe UI"/>
              </a:rPr>
              <a:t>Integral controller</a:t>
            </a:r>
            <a:r>
              <a:rPr sz="1400" b="0">
                <a:solidFill>
                  <a:srgbClr val="1E2430"/>
                </a:solidFill>
                <a:latin typeface="Segoe UI"/>
              </a:rPr>
              <a:t>, gain G = 0.35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  <a:latin typeface="Segoe UI"/>
              </a:rPr>
              <a:t>▪  </a:t>
            </a:r>
            <a:r>
              <a:rPr sz="1400" b="0">
                <a:solidFill>
                  <a:srgbClr val="1E2430"/>
                </a:solidFill>
                <a:latin typeface="Segoe UI"/>
              </a:rPr>
              <a:t>Plant gain K </a:t>
            </a:r>
            <a:r>
              <a:rPr sz="1400" b="1">
                <a:solidFill>
                  <a:srgbClr val="1E2430"/>
                </a:solidFill>
                <a:latin typeface="Segoe UI"/>
              </a:rPr>
              <a:t>measured by the lamp itself</a:t>
            </a:r>
            <a:r>
              <a:rPr sz="1400" b="0">
                <a:solidFill>
                  <a:srgbClr val="1E2430"/>
                </a:solidFill>
                <a:latin typeface="Segoe UI"/>
              </a:rPr>
              <a:t>, since it changes with sensor position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  <a:latin typeface="Segoe UI"/>
              </a:rPr>
              <a:t>▪  </a:t>
            </a:r>
            <a:r>
              <a:rPr sz="1400" b="0">
                <a:solidFill>
                  <a:srgbClr val="1E2430"/>
                </a:solidFill>
                <a:latin typeface="Segoe UI"/>
              </a:rPr>
              <a:t>Simulated first: stable even with K wrong by 2×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  <a:latin typeface="Segoe UI"/>
              </a:rPr>
              <a:t>▪  </a:t>
            </a:r>
            <a:r>
              <a:rPr sz="1400" b="1">
                <a:solidFill>
                  <a:srgbClr val="1E2430"/>
                </a:solidFill>
                <a:latin typeface="Segoe UI"/>
              </a:rPr>
              <a:t>3.5 s</a:t>
            </a:r>
            <a:r>
              <a:rPr sz="1400" b="0">
                <a:solidFill>
                  <a:srgbClr val="1E2430"/>
                </a:solidFill>
                <a:latin typeface="Segoe UI"/>
              </a:rPr>
              <a:t> to settle at 11 lx, </a:t>
            </a:r>
            <a:r>
              <a:rPr sz="1400" b="1">
                <a:solidFill>
                  <a:srgbClr val="1E2430"/>
                </a:solidFill>
                <a:latin typeface="Segoe UI"/>
              </a:rPr>
              <a:t>0.21 lx</a:t>
            </a:r>
            <a:r>
              <a:rPr sz="1400" b="0">
                <a:solidFill>
                  <a:srgbClr val="1E2430"/>
                </a:solidFill>
                <a:latin typeface="Segoe UI"/>
              </a:rPr>
              <a:t> overshoot, ±0.1 lx ripple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ADAPTIVE LED LAMP · MUSIC-REACTIVE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Then I made it react to music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pic>
        <p:nvPicPr>
          <p:cNvPr id="7" name="Picture 6" descr="audio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55680" cy="25234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84048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4164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0 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0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it listens to the audio stream itself, so headphones work and room noise is ignored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84048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04164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60 fps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709160"/>
            <a:ext cx="320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brightness updates, sent over serial to the ESP32's PWM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84048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404164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1F3A5F"/>
                </a:solidFill>
                <a:latin typeface="Segoe UI Semibold"/>
              </a:rPr>
              <a:t>140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4709160"/>
            <a:ext cx="320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Bluetooth delay measured and compensated, so flashes land on the beat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586"/>
                </a:solidFill>
                <a:latin typeface="Segoe UI"/>
              </a:rPr>
              <a:t>Same lamp hardware as before. The music mode is a Python engine on the PC: numpy FFT, auto gain control, onset detection.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ADAPTIVE LED LAMP ·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Four versions, judged against an independent beat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14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pic>
        <p:nvPicPr>
          <p:cNvPr id="7" name="Picture 6" descr="audio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8245305" cy="48006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1463040"/>
            <a:ext cx="566928" cy="566928"/>
          </a:xfrm>
          <a:prstGeom prst="ellipse">
            <a:avLst/>
          </a:prstGeom>
          <a:solidFill>
            <a:srgbClr val="6B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60020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4630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E2430"/>
                </a:solidFill>
                <a:latin typeface="Segoe UI"/>
              </a:rPr>
              <a:t>Mapped raw volume. Swung only 50–70 % and followed the volume knob, not the music.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2395728"/>
            <a:ext cx="566928" cy="566928"/>
          </a:xfrm>
          <a:prstGeom prst="ellipse">
            <a:avLst/>
          </a:prstGeom>
          <a:solidFill>
            <a:srgbClr val="6B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53288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395728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E2430"/>
                </a:solidFill>
                <a:latin typeface="Segoe UI"/>
              </a:rPr>
              <a:t>Auto gain over an 8 s window, so it works at any volume.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3328416"/>
            <a:ext cx="566928" cy="566928"/>
          </a:xfrm>
          <a:prstGeom prst="ellipse">
            <a:avLst/>
          </a:prstGeom>
          <a:solidFill>
            <a:srgbClr val="6B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3465576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328416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E2430"/>
                </a:solidFill>
                <a:latin typeface="Segoe UI"/>
              </a:rPr>
              <a:t>Kick detector tuned on a synthetic track. On real songs it caught only 0.12–0.33 kicks per beat.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4261104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439826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v4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261104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E2430"/>
                </a:solidFill>
                <a:latin typeface="Segoe UI"/>
              </a:rPr>
              <a:t>Continuous bass/mid onset strength: 5.8× the beat contrast on the same song.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5257800"/>
            <a:ext cx="3017520" cy="960120"/>
          </a:xfrm>
          <a:prstGeom prst="roundRect">
            <a:avLst>
              <a:gd name="adj" fmla="val 10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5349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E2430"/>
                </a:solidFill>
                <a:latin typeface="Segoe UI"/>
              </a:rPr>
              <a:t>Chosen: mellow.</a:t>
            </a:r>
            <a:r>
              <a:rPr sz="1200" b="0">
                <a:solidFill>
                  <a:srgbClr val="1E2430"/>
                </a:solidFill>
                <a:latin typeface="Segoe UI"/>
              </a:rPr>
              <a:t> Picked by watching all three v4 styles on the same song. It keeps the room lit (58 %) and still lands the beats.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ADAPTIVE LED LAMP ·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Watch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15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pic>
        <p:nvPicPr>
          <p:cNvPr id="7" name="lamp-musi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" y="1417320"/>
            <a:ext cx="269748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2910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586"/>
                </a:solidFill>
                <a:latin typeface="Segoe UI"/>
              </a:rPr>
              <a:t>Real lamp, behind the monitor (click to play)</a:t>
            </a:r>
          </a:p>
        </p:txBody>
      </p:sp>
      <p:pic>
        <p:nvPicPr>
          <p:cNvPr id="9" name="lamp-styles-compar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23360" y="1417320"/>
            <a:ext cx="7680960" cy="43205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23360" y="585216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586"/>
                </a:solidFill>
                <a:latin typeface="Segoe UI"/>
              </a:rPr>
              <a:t>Rendered comparison: the three v4 styles run on the same 30 s of music. Left: simulated diffuser at the commanded brightness. Right: brightness trace with detected hits.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A9D8F"/>
                </a:solidFill>
                <a:latin typeface="Segoe UI Semibold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F3A5F"/>
                </a:solidFill>
                <a:latin typeface="Segoe UI Semibold"/>
              </a:rPr>
              <a:t>What I built, and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586"/>
                </a:solidFill>
                <a:latin typeface="Segoe UI"/>
              </a:rPr>
              <a:t>Anmol Bhandohal · Electrical Engineering, University of Alberta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2062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5349240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F3A5F"/>
                </a:solidFill>
                <a:latin typeface="Segoe UI Semibold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Sensor → ESP32 → Wi-Fi → Python → Excel chain, validated on 16 h of real data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Room A: 9 furnace cycles, ≈ 0.5 °C each, τ ≈ 24 h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LED lamp: linear to R² 0.9999, closed-loop control within 1 sensor count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Music mode: 4 versions, judged against librosa; v4 has 5.8× the beat contrast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349240" cy="10972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F3A5F"/>
                </a:solidFill>
                <a:latin typeface="Segoe UI Semibold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Build node 2 and run the 24 h side-by-side calibration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Log both rooms for 2 to 3 weeks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2A9D8F"/>
                </a:solidFill>
                <a:latin typeface="Segoe UI"/>
              </a:rPr>
              <a:t>▪  </a:t>
            </a:r>
            <a:r>
              <a:rPr sz="1500" b="0">
                <a:solidFill>
                  <a:srgbClr val="1E2430"/>
                </a:solidFill>
                <a:latin typeface="Segoe UI"/>
              </a:rPr>
              <a:t>Fill in the comparison and apply the decision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3A5F"/>
                </a:solidFill>
                <a:latin typeface="Segoe UI Semibold"/>
              </a:rPr>
              <a:t>The same approach transfers to any building or equipment question: measure, model, then decide.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50408" y="205740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16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D6E2F0"/>
                </a:solidFill>
                <a:latin typeface="Segoe UI"/>
              </a:rPr>
              <a:t>Anmol Bhandohal · bhandoha@ualberta.ca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D6E2F0"/>
                </a:solidFill>
                <a:latin typeface="Segoe UI"/>
              </a:rPr>
              <a:t>linkedin.com/in/anmol-bhandohal-904789305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484632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49834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Technical report (Word)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484632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49834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Analysis workbook (Excel)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84632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9834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Firmware + Python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3CC"/>
                </a:solidFill>
                <a:latin typeface="Segoe UI"/>
              </a:rPr>
              <a:t>available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